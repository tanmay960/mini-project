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y="6858000" cx="12188825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99FF66"/>
    <a:srgbClr val="FF9933"/>
    <a:srgbClr val="FFCC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000" autoAdjust="0"/>
    <p:restoredTop sz="94660"/>
  </p:normalViewPr>
  <p:slideViewPr>
    <p:cSldViewPr>
      <p:cViewPr>
        <p:scale>
          <a:sx n="100" d="100"/>
          <a:sy n="100" d="100"/>
        </p:scale>
        <p:origin x="67" y="-643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91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4/22/2026</a:t>
            </a:fld>
          </a:p>
        </p:txBody>
      </p:sp>
      <p:sp>
        <p:nvSpPr>
          <p:cNvPr id="1048692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93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7C119DBA-4540-49B3-8FA9-6259387ECF9E}" type="slidenum">
              <a:t>‹#›</a:t>
            </a:fld>
          </a:p>
        </p:txBody>
      </p:sp>
    </p:spTree>
  </p:cSld>
  <p:clrMap accent1="accent1" accent2="accent2" accent3="accent3" accent4="accent4" accent5="accent5" accent6="accent6" bg1="lt1" bg2="lt2" tx1="dk1" tx2="dk2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8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4/22/2026</a:t>
            </a:fld>
          </a:p>
        </p:txBody>
      </p:sp>
      <p:sp>
        <p:nvSpPr>
          <p:cNvPr id="104868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/>
        </p:txBody>
      </p:sp>
      <p:sp>
        <p:nvSpPr>
          <p:cNvPr id="104868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4868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68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E3B36274-F2B9-4C45-BBB4-0EDF4CD651A7}" type="slidenum">
              <a:t>‹#›</a:t>
            </a:fld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4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algn="l" indent="0" mar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3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829175-527E-46A3-863C-1BB1F163B8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486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</a:lvl2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0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829175-527E-46A3-863C-1BB1F163B8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486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baseline="0" b="0" cap="none" sz="660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7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indent="0" mar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5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829175-527E-46A3-863C-1BB1F163B8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2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3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6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829175-527E-46A3-863C-1BB1F163B8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486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8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indent="0" marL="0">
              <a:spcBef>
                <a:spcPts val="0"/>
              </a:spcBef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69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baseline="0" sz="1400"/>
            </a:lvl6pPr>
            <a:lvl7pPr>
              <a:defRPr baseline="0" sz="1400"/>
            </a:lvl7pPr>
            <a:lvl8pPr>
              <a:defRPr baseline="0" sz="1400"/>
            </a:lvl8pPr>
            <a:lvl9pPr>
              <a:defRPr baseline="0"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indent="0" marL="0">
              <a:spcBef>
                <a:spcPts val="0"/>
              </a:spcBef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71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7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829175-527E-46A3-863C-1BB1F163B8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4867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3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4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829175-527E-46A3-863C-1BB1F163B8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4864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7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829175-527E-46A3-863C-1BB1F163B8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4867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b="0"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indent="0" marL="0">
              <a:spcBef>
                <a:spcPts val="600"/>
              </a:spcBef>
              <a:buNone/>
              <a:defRPr sz="16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81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82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829175-527E-46A3-863C-1BB1F163B8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48683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b="0"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8" name="Rectangle 4"/>
          <p:cNvSpPr/>
          <p:nvPr/>
        </p:nvSpPr>
        <p:spPr>
          <a:xfrm>
            <a:off x="5103812" y="457200"/>
            <a:ext cx="6629400" cy="5943600"/>
          </a:xfrm>
          <a:prstGeom prst="rect"/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9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algn="ctr" indent="0" marL="0">
              <a:buNone/>
              <a:defRPr sz="24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865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indent="0" marL="0">
              <a:spcBef>
                <a:spcPts val="600"/>
              </a:spcBef>
              <a:buNone/>
              <a:defRPr sz="16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5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5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829175-527E-46A3-863C-1BB1F163B8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4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4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3829175-527E-46A3-863C-1BB1F163B8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486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1048576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/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wrap="none"/>
            <a:p>
              <a:pPr algn="ctr"/>
              <a:endParaRPr sz="2400" kumimoji="1" lang="en-US">
                <a:latin typeface="굴림" pitchFamily="50" charset="-127"/>
              </a:endParaRPr>
            </a:p>
          </p:txBody>
        </p:sp>
        <p:sp>
          <p:nvSpPr>
            <p:cNvPr id="1048577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/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wrap="none"/>
            <a:p>
              <a:pPr algn="ctr"/>
              <a:endParaRPr sz="2400" kumimoji="1" lang="en-US">
                <a:latin typeface="굴림" pitchFamily="50" charset="-127"/>
              </a:endParaRPr>
            </a:p>
          </p:txBody>
        </p:sp>
        <p:sp>
          <p:nvSpPr>
            <p:cNvPr id="1048578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/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wrap="none"/>
            <a:p>
              <a:pPr algn="ctr"/>
              <a:endParaRPr sz="2400" kumimoji="1" lang="en-US">
                <a:latin typeface="굴림" pitchFamily="50" charset="-127"/>
              </a:endParaRPr>
            </a:p>
          </p:txBody>
        </p:sp>
        <p:sp>
          <p:nvSpPr>
            <p:cNvPr id="1048579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/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wrap="none"/>
            <a:p>
              <a:pPr algn="ctr"/>
              <a:endParaRPr sz="2400" kumimoji="1" lang="en-US">
                <a:latin typeface="굴림" pitchFamily="50" charset="-127"/>
              </a:endParaRPr>
            </a:p>
          </p:txBody>
        </p:sp>
        <p:sp>
          <p:nvSpPr>
            <p:cNvPr id="1048580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/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wrap="none"/>
            <a:p>
              <a:pPr algn="ctr"/>
              <a:endParaRPr sz="2400" kumimoji="1" lang="en-US">
                <a:latin typeface="굴림" pitchFamily="50" charset="-127"/>
              </a:endParaRPr>
            </a:p>
          </p:txBody>
        </p:sp>
        <p:sp>
          <p:nvSpPr>
            <p:cNvPr id="1048581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/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anchor="ctr" wrap="none"/>
            <a:p>
              <a:pPr algn="ctr"/>
              <a:endParaRPr sz="2400" kumimoji="1" lang="en-US">
                <a:latin typeface="굴림" pitchFamily="50" charset="-127"/>
              </a:endParaRPr>
            </a:p>
          </p:txBody>
        </p:sp>
        <p:sp>
          <p:nvSpPr>
            <p:cNvPr id="1048582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/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wrap="none"/>
            <a:p>
              <a:pPr algn="ctr"/>
              <a:endParaRPr sz="2400" kumimoji="1" lang="en-US">
                <a:latin typeface="굴림" pitchFamily="50" charset="-127"/>
              </a:endParaRPr>
            </a:p>
          </p:txBody>
        </p:sp>
        <p:sp>
          <p:nvSpPr>
            <p:cNvPr id="1048583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/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wrap="none"/>
            <a:p>
              <a:pPr algn="ctr"/>
              <a:endParaRPr sz="2400" kumimoji="1" lang="en-US">
                <a:latin typeface="굴림" pitchFamily="50" charset="-127"/>
              </a:endParaRPr>
            </a:p>
          </p:txBody>
        </p:sp>
        <p:sp>
          <p:nvSpPr>
            <p:cNvPr id="1048584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/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 wrap="none"/>
            <a:p>
              <a:pPr algn="ctr"/>
              <a:endParaRPr sz="2400" kumimoji="1" lang="en-US">
                <a:latin typeface="굴림" pitchFamily="50" charset="-127"/>
              </a:endParaRPr>
            </a:p>
          </p:txBody>
        </p:sp>
        <p:sp>
          <p:nvSpPr>
            <p:cNvPr id="1048585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/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anchor="ctr" wrap="none"/>
            <a:p>
              <a:pPr algn="ctr"/>
              <a:endParaRPr sz="2400" kumimoji="1" lang="en-US">
                <a:latin typeface="굴림" pitchFamily="50" charset="-127"/>
              </a:endParaRPr>
            </a:p>
          </p:txBody>
        </p:sp>
        <p:sp>
          <p:nvSpPr>
            <p:cNvPr id="1048586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/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anchor="ctr" wrap="none"/>
            <a:p>
              <a:pPr algn="ctr"/>
              <a:endParaRPr sz="2400" kumimoji="1" lang="en-US">
                <a:latin typeface="굴림" pitchFamily="50" charset="-127"/>
              </a:endParaRPr>
            </a:p>
          </p:txBody>
        </p:sp>
        <p:sp>
          <p:nvSpPr>
            <p:cNvPr id="1048587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/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 wrap="none"/>
            <a:p>
              <a:endParaRPr lang="en-US"/>
            </a:p>
          </p:txBody>
        </p:sp>
        <p:sp>
          <p:nvSpPr>
            <p:cNvPr id="1048588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/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 wrap="none"/>
            <a:p>
              <a:endParaRPr lang="en-US"/>
            </a:p>
          </p:txBody>
        </p:sp>
        <p:sp>
          <p:nvSpPr>
            <p:cNvPr id="1048589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/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 wrap="none"/>
            <a:p>
              <a:endParaRPr lang="en-US"/>
            </a:p>
          </p:txBody>
        </p:sp>
        <p:sp>
          <p:nvSpPr>
            <p:cNvPr id="1048590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/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 wrap="none"/>
            <a:p>
              <a:endParaRPr lang="en-US"/>
            </a:p>
          </p:txBody>
        </p:sp>
        <p:sp>
          <p:nvSpPr>
            <p:cNvPr id="1048591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/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 wrap="none"/>
            <a:p>
              <a:endParaRPr lang="en-US"/>
            </a:p>
          </p:txBody>
        </p:sp>
        <p:sp>
          <p:nvSpPr>
            <p:cNvPr id="1048592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/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 wrap="none"/>
            <a:p>
              <a:endParaRPr lang="en-US"/>
            </a:p>
          </p:txBody>
        </p:sp>
        <p:sp>
          <p:nvSpPr>
            <p:cNvPr id="1048593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/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 wrap="none"/>
            <a:p>
              <a:endParaRPr lang="en-US"/>
            </a:p>
          </p:txBody>
        </p:sp>
        <p:sp>
          <p:nvSpPr>
            <p:cNvPr id="1048594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/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 wrap="none"/>
            <a:p>
              <a:endParaRPr lang="en-US"/>
            </a:p>
          </p:txBody>
        </p:sp>
        <p:sp>
          <p:nvSpPr>
            <p:cNvPr id="1048595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/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 wrap="none"/>
            <a:p>
              <a:endParaRPr lang="en-US"/>
            </a:p>
          </p:txBody>
        </p:sp>
        <p:sp>
          <p:nvSpPr>
            <p:cNvPr id="1048596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/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 wrap="none"/>
            <a:p>
              <a:endParaRPr lang="en-US"/>
            </a:p>
          </p:txBody>
        </p:sp>
        <p:sp>
          <p:nvSpPr>
            <p:cNvPr id="1048597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/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anchor="ctr" wrap="none"/>
            <a:p>
              <a:endParaRPr lang="en-US"/>
            </a:p>
          </p:txBody>
        </p:sp>
      </p:grpSp>
      <p:sp>
        <p:nvSpPr>
          <p:cNvPr id="1048598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/>
        </p:spPr>
        <p:txBody>
          <a:bodyPr anchor="b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48599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dirty="0" lang="en-US"/>
          </a:p>
        </p:txBody>
      </p:sp>
      <p:sp>
        <p:nvSpPr>
          <p:cNvPr id="1048601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3838" latinLnBrk="0" marL="223838" rtl="0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3838" latinLnBrk="0" marL="502920" rtl="0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171450" latinLnBrk="0" marL="741363" rtl="0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173038" latinLnBrk="0" marL="966788" rtl="0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173038" latinLnBrk="0" marL="1208088" rtl="0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173736" latinLnBrk="0" marL="1444752" rtl="0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173736" latinLnBrk="0" marL="1682496" rtl="0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173736" latinLnBrk="0" marL="1920240" rtl="0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173736" latinLnBrk="0" marL="2157984" rtl="0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2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dirty="0" lang="en-US">
                <a:latin typeface="Arial" pitchFamily="34" charset="0"/>
                <a:cs typeface="Arial" pitchFamily="34" charset="0"/>
              </a:rPr>
              <a:t>OFFLINE SEMANTIC SEARCH BROWSER EXTENSION</a:t>
            </a:r>
          </a:p>
        </p:txBody>
      </p:sp>
      <p:sp>
        <p:nvSpPr>
          <p:cNvPr id="1048609" name="Content Placeholder 13"/>
          <p:cNvSpPr>
            <a:spLocks noGrp="1"/>
          </p:cNvSpPr>
          <p:nvPr>
            <p:ph idx="1"/>
          </p:nvPr>
        </p:nvSpPr>
        <p:spPr>
          <a:xfrm>
            <a:off x="1446212" y="1828800"/>
            <a:ext cx="9601200" cy="4191000"/>
          </a:xfrm>
        </p:spPr>
        <p:txBody>
          <a:bodyPr>
            <a:normAutofit/>
          </a:bodyPr>
          <a:p>
            <a:pPr algn="ctr" indent="0" lvl="0" marL="0">
              <a:buNone/>
            </a:pPr>
            <a:r>
              <a:rPr dirty="0" sz="1600" lang="en-US">
                <a:latin typeface="Arial" pitchFamily="34" charset="0"/>
                <a:cs typeface="Arial" pitchFamily="34" charset="0"/>
              </a:rPr>
              <a:t>Department of Computer Science and Engineering </a:t>
            </a:r>
          </a:p>
          <a:p>
            <a:pPr algn="ctr" indent="0" lvl="0" marL="0">
              <a:buNone/>
            </a:pPr>
            <a:r>
              <a:rPr dirty="0" lang="en-US">
                <a:latin typeface="Arial" pitchFamily="34" charset="0"/>
                <a:cs typeface="Arial" pitchFamily="34" charset="0"/>
              </a:rPr>
              <a:t>(Submitted to:  </a:t>
            </a:r>
            <a:r>
              <a:rPr b="1" dirty="0" lang="en-US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Ms. Pooja Kumari</a:t>
            </a:r>
            <a:r>
              <a:rPr dirty="0" lang="en-US">
                <a:latin typeface="Arial" pitchFamily="34" charset="0"/>
                <a:cs typeface="Arial" pitchFamily="34" charset="0"/>
              </a:rPr>
              <a:t>)</a:t>
            </a:r>
          </a:p>
          <a:p>
            <a:pPr algn="ctr" indent="0" lvl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indent="0" lvl="0" marL="0">
              <a:buNone/>
            </a:pPr>
            <a:endParaRPr dirty="0" lang="en-US"/>
          </a:p>
          <a:p>
            <a:pPr algn="ctr" indent="0" lvl="0" marL="0">
              <a:buNone/>
            </a:pPr>
            <a:endParaRPr dirty="0" lang="en-US"/>
          </a:p>
          <a:p>
            <a:pPr algn="ctr" indent="0" lvl="0" marL="0">
              <a:buNone/>
            </a:pPr>
            <a:endParaRPr dirty="0" lang="en-US"/>
          </a:p>
          <a:p>
            <a:pPr algn="ctr" indent="0" lvl="0" marL="0">
              <a:buNone/>
            </a:pPr>
            <a:r>
              <a:rPr dirty="0" lang="en-US"/>
              <a:t>Group Members</a:t>
            </a:r>
          </a:p>
          <a:p>
            <a:pPr algn="ctr" indent="0" lvl="0" marL="0">
              <a:buNone/>
            </a:pPr>
            <a:endParaRPr dirty="0" lang="en-US"/>
          </a:p>
        </p:txBody>
      </p:sp>
      <p:graphicFrame>
        <p:nvGraphicFramePr>
          <p:cNvPr id="4194304" name="Table 5"/>
          <p:cNvGraphicFramePr>
            <a:graphicFrameLocks noGrp="1"/>
          </p:cNvGraphicFramePr>
          <p:nvPr/>
        </p:nvGraphicFramePr>
        <p:xfrm>
          <a:off x="2284412" y="4552950"/>
          <a:ext cx="8101544" cy="1638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1"/>
                <a:gridCol w="1676399"/>
                <a:gridCol w="4139144"/>
              </a:tblGrid>
              <a:tr h="393520">
                <a:tc>
                  <a:txBody>
                    <a:bodyPr/>
                    <a:p>
                      <a:pPr algn="ctr"/>
                      <a:r>
                        <a:rPr dirty="0" sz="1400" lang="en-US">
                          <a:latin typeface="Arial" pitchFamily="34" charset="0"/>
                          <a:cs typeface="Arial" pitchFamily="34" charset="0"/>
                        </a:rPr>
                        <a:t>Name of Member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sz="1400" lang="en-US">
                          <a:latin typeface="Arial" pitchFamily="34" charset="0"/>
                          <a:cs typeface="Arial" pitchFamily="34" charset="0"/>
                        </a:rPr>
                        <a:t>Roll Number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sz="1400" lang="en-US">
                          <a:latin typeface="Arial" pitchFamily="34" charset="0"/>
                          <a:cs typeface="Arial" pitchFamily="34" charset="0"/>
                        </a:rPr>
                        <a:t>Role</a:t>
                      </a:r>
                    </a:p>
                  </a:txBody>
                </a:tc>
              </a:tr>
              <a:tr h="426746">
                <a:tc>
                  <a:txBody>
                    <a:bodyPr/>
                    <a:p>
                      <a:pPr algn="ctr"/>
                      <a:r>
                        <a:rPr dirty="0" sz="1400" lang="en-US">
                          <a:latin typeface="Arial" pitchFamily="34" charset="0"/>
                          <a:cs typeface="Arial" pitchFamily="34" charset="0"/>
                        </a:rPr>
                        <a:t>Varun Attri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sz="1400" lang="en-US">
                          <a:latin typeface="Arial" pitchFamily="34" charset="0"/>
                          <a:cs typeface="Arial" pitchFamily="34" charset="0"/>
                        </a:rPr>
                        <a:t>2401331690064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sz="1400"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Lead &amp; Documentation Head</a:t>
                      </a:r>
                      <a:endParaRPr dirty="0" sz="1400"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</a:tc>
              </a:tr>
              <a:tr h="432048">
                <a:tc>
                  <a:txBody>
                    <a:bodyPr/>
                    <a:p>
                      <a:pPr algn="ctr"/>
                      <a:r>
                        <a:rPr dirty="0" sz="1400" lang="en-US">
                          <a:latin typeface="Arial" pitchFamily="34" charset="0"/>
                          <a:cs typeface="Arial" pitchFamily="34" charset="0"/>
                        </a:rPr>
                        <a:t>Md. Sami Khan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sz="1400" lang="en-US">
                          <a:latin typeface="Arial" pitchFamily="34" charset="0"/>
                          <a:cs typeface="Arial" pitchFamily="34" charset="0"/>
                        </a:rPr>
                        <a:t>2401331690036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sz="1400"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Technical &amp; Development Lead</a:t>
                      </a:r>
                      <a:endParaRPr dirty="0" sz="1400" lang="en-US">
                        <a:latin typeface="Arial" pitchFamily="34" charset="0"/>
                        <a:cs typeface="Arial" pitchFamily="34" charset="0"/>
                      </a:endParaRPr>
                    </a:p>
                  </a:txBody>
                </a:tc>
              </a:tr>
              <a:tr h="386535">
                <a:tc>
                  <a:txBody>
                    <a:bodyPr/>
                    <a:p>
                      <a:pPr algn="ctr"/>
                      <a:r>
                        <a:rPr dirty="0" sz="1400" lang="en-US">
                          <a:latin typeface="Arial" pitchFamily="34" charset="0"/>
                          <a:cs typeface="Arial" pitchFamily="34" charset="0"/>
                        </a:rPr>
                        <a:t>Tanmay Singh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sz="1400" lang="en-US">
                          <a:latin typeface="Arial" pitchFamily="34" charset="0"/>
                          <a:cs typeface="Arial" pitchFamily="34" charset="0"/>
                        </a:rPr>
                        <a:t>240133169</a:t>
                      </a:r>
                      <a:r>
                        <a:rPr dirty="0" sz="1400" lang="en-US">
                          <a:latin typeface="Arial" pitchFamily="34" charset="0"/>
                          <a:cs typeface="Arial" pitchFamily="34" charset="0"/>
                        </a:rPr>
                        <a:t>005</a:t>
                      </a:r>
                      <a:r>
                        <a:rPr altLang="en-GB" dirty="0" sz="1400" lang="en-US"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sz="1400"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&amp; Presentation Lead</a:t>
                      </a:r>
                      <a:endParaRPr dirty="0" sz="1400" lang="en-US">
                        <a:latin typeface="Arial" pitchFamily="34" charset="0"/>
                        <a:cs typeface="Arial" pitchFamily="34" charset="0"/>
                      </a:endParaRPr>
                    </a:p>
                  </a:txBody>
                </a:tc>
              </a:tr>
            </a:tbl>
          </a:graphicData>
        </a:graphic>
      </p:graphicFrame>
      <p:pic>
        <p:nvPicPr>
          <p:cNvPr id="2097152" name="Picture 2" descr="A black and red logo  Description automatically generated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942284" y="2996952"/>
            <a:ext cx="2688305" cy="1152387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>
                <a:latin typeface="Arial" pitchFamily="34" charset="0"/>
                <a:cs typeface="Arial" pitchFamily="34" charset="0"/>
              </a:rPr>
              <a:t>Index</a:t>
            </a:r>
          </a:p>
        </p:txBody>
      </p:sp>
      <p:sp>
        <p:nvSpPr>
          <p:cNvPr id="1048611" name="Content Placeholder 2"/>
          <p:cNvSpPr>
            <a:spLocks noGrp="1"/>
          </p:cNvSpPr>
          <p:nvPr>
            <p:ph idx="1"/>
          </p:nvPr>
        </p:nvSpPr>
        <p:spPr>
          <a:xfrm>
            <a:off x="1485900" y="1532806"/>
            <a:ext cx="9601200" cy="4696544"/>
          </a:xfrm>
        </p:spPr>
        <p:txBody>
          <a:bodyPr>
            <a:normAutofit/>
          </a:bodyPr>
          <a:p>
            <a:pPr indent="0" marL="0">
              <a:buNone/>
            </a:pPr>
            <a:endParaRPr dirty="0" lang="en-US"/>
          </a:p>
          <a:p>
            <a:r>
              <a:rPr dirty="0" lang="en-US">
                <a:latin typeface="Arial" pitchFamily="34" charset="0"/>
                <a:cs typeface="Arial" pitchFamily="34" charset="0"/>
              </a:rPr>
              <a:t>Introduction</a:t>
            </a:r>
          </a:p>
          <a:p>
            <a:r>
              <a:rPr dirty="0" lang="en-IN">
                <a:latin typeface="Arial" pitchFamily="34" charset="0"/>
                <a:cs typeface="Arial" pitchFamily="34" charset="0"/>
              </a:rPr>
              <a:t>Existing System</a:t>
            </a:r>
            <a:endParaRPr dirty="0" lang="en-US">
              <a:latin typeface="Arial" pitchFamily="34" charset="0"/>
              <a:cs typeface="Arial" pitchFamily="34" charset="0"/>
            </a:endParaRPr>
          </a:p>
          <a:p>
            <a:r>
              <a:rPr dirty="0" lang="en-US">
                <a:latin typeface="Arial" pitchFamily="34" charset="0"/>
                <a:cs typeface="Arial" pitchFamily="34" charset="0"/>
              </a:rPr>
              <a:t>Problem Statement</a:t>
            </a:r>
          </a:p>
          <a:p>
            <a:r>
              <a:rPr dirty="0" lang="en-US">
                <a:latin typeface="Arial" pitchFamily="34" charset="0"/>
                <a:cs typeface="Arial" pitchFamily="34" charset="0"/>
              </a:rPr>
              <a:t>Proposed Methodology</a:t>
            </a:r>
          </a:p>
          <a:p>
            <a:r>
              <a:rPr dirty="0" lang="en-US">
                <a:latin typeface="Arial" pitchFamily="34" charset="0"/>
                <a:cs typeface="Arial" pitchFamily="34" charset="0"/>
              </a:rPr>
              <a:t>Flowchart and ER Diagram</a:t>
            </a:r>
          </a:p>
          <a:p>
            <a:r>
              <a:rPr dirty="0" lang="en-US">
                <a:latin typeface="Arial" pitchFamily="34" charset="0"/>
                <a:cs typeface="Arial" pitchFamily="34" charset="0"/>
              </a:rPr>
              <a:t>Hardware and Software Requirements</a:t>
            </a:r>
          </a:p>
          <a:p>
            <a:r>
              <a:rPr dirty="0" lang="en-US">
                <a:latin typeface="Arial" pitchFamily="34" charset="0"/>
                <a:cs typeface="Arial" pitchFamily="34" charset="0"/>
              </a:rPr>
              <a:t>Results and Conclusions</a:t>
            </a:r>
          </a:p>
          <a:p>
            <a:r>
              <a:rPr dirty="0" lang="en-US">
                <a:latin typeface="Arial" pitchFamily="34" charset="0"/>
                <a:cs typeface="Arial" pitchFamily="34" charset="0"/>
              </a:rPr>
              <a:t>References</a:t>
            </a:r>
          </a:p>
          <a:p>
            <a:endParaRPr dirty="0" lang="en-US">
              <a:latin typeface="Arial" pitchFamily="34" charset="0"/>
              <a:cs typeface="Arial" pitchFamily="34" charset="0"/>
            </a:endParaRPr>
          </a:p>
          <a:p>
            <a:endParaRPr dirty="0" lang="en-US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97153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555672" y="628650"/>
            <a:ext cx="2720340" cy="226695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GB">
                <a:latin typeface="Arial" pitchFamily="34" charset="0"/>
                <a:cs typeface="Arial" pitchFamily="34" charset="0"/>
              </a:rPr>
              <a:t>Introduction</a:t>
            </a:r>
          </a:p>
        </p:txBody>
      </p:sp>
      <p:sp>
        <p:nvSpPr>
          <p:cNvPr id="104861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13892" y="2317603"/>
            <a:ext cx="9865096" cy="3310891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just" indent="0" marL="0">
              <a:lnSpc>
                <a:spcPct val="100000"/>
              </a:lnSpc>
              <a:buNone/>
            </a:pPr>
            <a:r>
              <a:rPr dirty="0" sz="1600" lang="en-US"/>
              <a:t>In the digital world, a large amount of data is available in the form of webpages, PDFs, and documents. Finding relevant information quickly is a major challenge. Traditional search systems rely on keyword matching, which cannot understand the actual meaning of user queries.</a:t>
            </a:r>
          </a:p>
          <a:p>
            <a:pPr algn="just" indent="0" marL="0">
              <a:buNone/>
            </a:pPr>
            <a:r>
              <a:rPr dirty="0" sz="1600" lang="en-US"/>
              <a:t>Semantic search improves this by understanding context and intent using AI techniques.</a:t>
            </a:r>
          </a:p>
          <a:p>
            <a:pPr algn="just"/>
            <a:r>
              <a:rPr dirty="0" sz="1600" lang="en-US"/>
              <a:t>Matches meaning instead of exact words </a:t>
            </a:r>
          </a:p>
          <a:p>
            <a:pPr algn="just"/>
            <a:r>
              <a:rPr dirty="0" sz="1600" lang="en-US"/>
              <a:t>Provides more accurate and relevant results </a:t>
            </a:r>
          </a:p>
          <a:p>
            <a:pPr algn="just"/>
            <a:r>
              <a:rPr dirty="0" sz="1600" lang="en-US"/>
              <a:t>Proposed system works offline using a lightweight model </a:t>
            </a:r>
          </a:p>
          <a:p>
            <a:pPr algn="just"/>
            <a:r>
              <a:rPr dirty="0" sz="1600" lang="en-US"/>
              <a:t>Ensures fast performance and data privacy 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Existing System</a:t>
            </a:r>
          </a:p>
        </p:txBody>
      </p:sp>
      <p:sp>
        <p:nvSpPr>
          <p:cNvPr id="1048615" name="Content Placeholder 2"/>
          <p:cNvSpPr>
            <a:spLocks noGrp="1"/>
          </p:cNvSpPr>
          <p:nvPr>
            <p:ph idx="1"/>
          </p:nvPr>
        </p:nvSpPr>
        <p:spPr>
          <a:xfrm>
            <a:off x="1522414" y="1988840"/>
            <a:ext cx="9601200" cy="4536504"/>
          </a:xfrm>
        </p:spPr>
        <p:txBody>
          <a:bodyPr>
            <a:normAutofit/>
          </a:bodyPr>
          <a:p>
            <a:pPr algn="just" indent="0" marL="0">
              <a:lnSpc>
                <a:spcPct val="100000"/>
              </a:lnSpc>
              <a:buNone/>
            </a:pPr>
            <a:r>
              <a:rPr dirty="0" sz="1600" lang="en-US"/>
              <a:t>Different types of search systems are currently used to retrieve information. Keyword-based systems are simple and fast but fail to understand context. Cloud-based semantic search systems provide better accuracy but depend on internet connectivity.</a:t>
            </a:r>
          </a:p>
          <a:p>
            <a:pPr>
              <a:lnSpc>
                <a:spcPct val="100000"/>
              </a:lnSpc>
            </a:pPr>
            <a:r>
              <a:rPr dirty="0" sz="1600" lang="en-US"/>
              <a:t>Keyword search: fast but limited </a:t>
            </a:r>
          </a:p>
          <a:p>
            <a:pPr>
              <a:lnSpc>
                <a:spcPct val="100000"/>
              </a:lnSpc>
            </a:pPr>
            <a:r>
              <a:rPr dirty="0" sz="1600" lang="en-US"/>
              <a:t>Cloud-based search: accurate but not offline </a:t>
            </a:r>
          </a:p>
          <a:p>
            <a:pPr>
              <a:lnSpc>
                <a:spcPct val="100000"/>
              </a:lnSpc>
            </a:pPr>
            <a:r>
              <a:rPr dirty="0" sz="1600" lang="en-US"/>
              <a:t>Database search: works only on structured data </a:t>
            </a:r>
          </a:p>
          <a:p>
            <a:pPr indent="0" marL="0">
              <a:buNone/>
            </a:pPr>
            <a:r>
              <a:rPr b="1" dirty="0" sz="1800" lang="en-US"/>
              <a:t>Limitations:</a:t>
            </a:r>
            <a:endParaRPr dirty="0" sz="1800" lang="en-US"/>
          </a:p>
          <a:p>
            <a:r>
              <a:rPr dirty="0" sz="1600" lang="en-US"/>
              <a:t>No semantic understanding in basic systems </a:t>
            </a:r>
          </a:p>
          <a:p>
            <a:r>
              <a:rPr dirty="0" sz="1600" lang="en-US"/>
              <a:t>Internet dependency in advanced systems </a:t>
            </a:r>
          </a:p>
          <a:p>
            <a:r>
              <a:rPr dirty="0" sz="1600" lang="en-US"/>
              <a:t>Privacy and cost issues </a:t>
            </a:r>
          </a:p>
          <a:p>
            <a:endParaRPr dirty="0"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Problem Statement</a:t>
            </a:r>
          </a:p>
        </p:txBody>
      </p:sp>
      <p:sp>
        <p:nvSpPr>
          <p:cNvPr id="1048617" name="Content Placeholder 2"/>
          <p:cNvSpPr>
            <a:spLocks noGrp="1"/>
          </p:cNvSpPr>
          <p:nvPr>
            <p:ph idx="1"/>
          </p:nvPr>
        </p:nvSpPr>
        <p:spPr>
          <a:xfrm>
            <a:off x="1522414" y="1828800"/>
            <a:ext cx="9601200" cy="4408512"/>
          </a:xfrm>
        </p:spPr>
        <p:txBody>
          <a:bodyPr>
            <a:normAutofit/>
          </a:bodyPr>
          <a:p>
            <a:pPr algn="just" indent="0" marL="0">
              <a:lnSpc>
                <a:spcPct val="100000"/>
              </a:lnSpc>
              <a:buNone/>
            </a:pPr>
            <a:r>
              <a:rPr dirty="0" sz="1600" lang="en-US"/>
              <a:t>Most existing systems either lack intelligence or depend on external services. Users often receive irrelevant results due to differences in wording. Cloud-based solutions solve this problem but introduce new challenges.</a:t>
            </a:r>
          </a:p>
          <a:p>
            <a:pPr>
              <a:lnSpc>
                <a:spcPct val="100000"/>
              </a:lnSpc>
            </a:pPr>
            <a:r>
              <a:rPr dirty="0" sz="1600" lang="en-US"/>
              <a:t>Inaccurate results in keyword search </a:t>
            </a:r>
          </a:p>
          <a:p>
            <a:pPr>
              <a:lnSpc>
                <a:spcPct val="100000"/>
              </a:lnSpc>
            </a:pPr>
            <a:r>
              <a:rPr dirty="0" sz="1600" lang="en-US"/>
              <a:t>Dependency on internet connection </a:t>
            </a:r>
          </a:p>
          <a:p>
            <a:pPr>
              <a:lnSpc>
                <a:spcPct val="100000"/>
              </a:lnSpc>
            </a:pPr>
            <a:r>
              <a:rPr dirty="0" sz="1600" lang="en-US"/>
              <a:t>Privacy risks due to data sharing </a:t>
            </a:r>
          </a:p>
          <a:p>
            <a:pPr>
              <a:lnSpc>
                <a:spcPct val="150000"/>
              </a:lnSpc>
            </a:pPr>
            <a:r>
              <a:rPr dirty="0" sz="1600" lang="en-US"/>
              <a:t>High computational requirements </a:t>
            </a:r>
          </a:p>
          <a:p>
            <a:pPr indent="0" marL="0">
              <a:lnSpc>
                <a:spcPct val="150000"/>
              </a:lnSpc>
              <a:buNone/>
            </a:pPr>
            <a:r>
              <a:rPr b="1" dirty="0" sz="1800" lang="en-US"/>
              <a:t>Objective:</a:t>
            </a:r>
            <a:br>
              <a:rPr dirty="0" sz="1600" lang="en-US"/>
            </a:br>
            <a:r>
              <a:rPr dirty="0" sz="1600" lang="en-US"/>
              <a:t>To develop a system that provides </a:t>
            </a:r>
            <a:r>
              <a:rPr b="1" dirty="0" sz="1600" lang="en-US"/>
              <a:t>offline, fast, and accurate semantic search</a:t>
            </a:r>
            <a:r>
              <a:rPr dirty="0" sz="1600" lang="en-US"/>
              <a:t> while ensuring user privacy.</a:t>
            </a:r>
          </a:p>
          <a:p>
            <a:endParaRPr dirty="0"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Proposed Methodology</a:t>
            </a:r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indent="0" marL="0">
              <a:lnSpc>
                <a:spcPct val="160000"/>
              </a:lnSpc>
              <a:buNone/>
            </a:pPr>
            <a:r>
              <a:rPr dirty="0" sz="1700" lang="en-US"/>
              <a:t>The proposed system follows a structured approach to perform semantic search efficiently. It processes data step-by-step and stores it locally for faster retrieval.</a:t>
            </a:r>
          </a:p>
          <a:p>
            <a:r>
              <a:rPr dirty="0" sz="1700" lang="en-US"/>
              <a:t>Extract text from webpages and documents </a:t>
            </a:r>
          </a:p>
          <a:p>
            <a:r>
              <a:rPr dirty="0" sz="1700" lang="en-US"/>
              <a:t>Clean and preprocess the data </a:t>
            </a:r>
          </a:p>
          <a:p>
            <a:r>
              <a:rPr dirty="0" sz="1700" lang="en-US"/>
              <a:t>Split text into smaller chunks </a:t>
            </a:r>
          </a:p>
          <a:p>
            <a:r>
              <a:rPr dirty="0" sz="1700" lang="en-US"/>
              <a:t>Convert text into embeddings using AI model </a:t>
            </a:r>
          </a:p>
          <a:p>
            <a:r>
              <a:rPr dirty="0" sz="1700" lang="en-US"/>
              <a:t>Store embeddings in local database </a:t>
            </a:r>
          </a:p>
          <a:p>
            <a:r>
              <a:rPr dirty="0" sz="1700" lang="en-US"/>
              <a:t>Convert user query into embedding </a:t>
            </a:r>
          </a:p>
          <a:p>
            <a:r>
              <a:rPr dirty="0" sz="1700" lang="en-US"/>
              <a:t>Compare similarity using cosine similarity </a:t>
            </a:r>
          </a:p>
          <a:p>
            <a:r>
              <a:rPr dirty="0" sz="1700" lang="en-US"/>
              <a:t>Display ranked results</a:t>
            </a:r>
          </a:p>
          <a:p>
            <a:endParaRPr dirty="0"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ER Diagram and Flow Chart</a:t>
            </a:r>
          </a:p>
        </p:txBody>
      </p:sp>
      <p:pic>
        <p:nvPicPr>
          <p:cNvPr id="2097154" name="Picture 1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t="9051" b="27581"/>
          <a:stretch>
            <a:fillRect/>
          </a:stretch>
        </p:blipFill>
        <p:spPr>
          <a:xfrm>
            <a:off x="1413892" y="2592267"/>
            <a:ext cx="7663780" cy="3545676"/>
          </a:xfrm>
          <a:prstGeom prst="rect"/>
        </p:spPr>
      </p:pic>
      <p:sp>
        <p:nvSpPr>
          <p:cNvPr id="1048621" name="Content Placeholder 14"/>
          <p:cNvSpPr>
            <a:spLocks noGrp="1"/>
          </p:cNvSpPr>
          <p:nvPr>
            <p:ph idx="1"/>
          </p:nvPr>
        </p:nvSpPr>
        <p:spPr>
          <a:xfrm>
            <a:off x="1522414" y="2132856"/>
            <a:ext cx="2796954" cy="360040"/>
          </a:xfrm>
        </p:spPr>
        <p:txBody>
          <a:bodyPr>
            <a:noAutofit/>
          </a:bodyPr>
          <a:p>
            <a:pPr indent="0" marL="0">
              <a:buNone/>
            </a:pPr>
            <a:r>
              <a:rPr dirty="0" sz="1800" lang="en-IN"/>
              <a:t>ER Diagram 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562792" y="548680"/>
            <a:ext cx="5063239" cy="6120680"/>
          </a:xfrm>
          <a:prstGeom prst="rect"/>
        </p:spPr>
      </p:pic>
      <p:sp>
        <p:nvSpPr>
          <p:cNvPr id="1048622" name="TextBox 7"/>
          <p:cNvSpPr txBox="1"/>
          <p:nvPr/>
        </p:nvSpPr>
        <p:spPr>
          <a:xfrm>
            <a:off x="1485900" y="692696"/>
            <a:ext cx="1728192" cy="369332"/>
          </a:xfrm>
          <a:prstGeom prst="rect"/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anchor="ctr" anchorCtr="1" rtlCol="0" wrap="square">
            <a:spAutoFit/>
          </a:bodyPr>
          <a:p>
            <a:r>
              <a:rPr dirty="0" lang="en-IN">
                <a:latin typeface="Arial" panose="020B0604020202020204" pitchFamily="34" charset="0"/>
                <a:cs typeface="Arial" panose="020B0604020202020204" pitchFamily="34" charset="0"/>
              </a:rPr>
              <a:t>Flow Chart 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Requirements</a:t>
            </a:r>
          </a:p>
        </p:txBody>
      </p:sp>
      <p:sp>
        <p:nvSpPr>
          <p:cNvPr id="1048624" name="Content Placeholder 2"/>
          <p:cNvSpPr>
            <a:spLocks noGrp="1"/>
          </p:cNvSpPr>
          <p:nvPr>
            <p:ph idx="1"/>
          </p:nvPr>
        </p:nvSpPr>
        <p:spPr>
          <a:xfrm>
            <a:off x="1522414" y="1916832"/>
            <a:ext cx="9900590" cy="4680520"/>
          </a:xfrm>
        </p:spPr>
        <p:txBody>
          <a:bodyPr>
            <a:normAutofit/>
          </a:bodyPr>
          <a:p>
            <a:pPr indent="0" marL="0">
              <a:lnSpc>
                <a:spcPct val="100000"/>
              </a:lnSpc>
              <a:buNone/>
            </a:pPr>
            <a:r>
              <a:rPr dirty="0" sz="1600" lang="en-IN"/>
              <a:t>The system requires basic hardware and commonly used software tools for development and execution.</a:t>
            </a:r>
          </a:p>
          <a:p>
            <a:pPr indent="0" marL="0">
              <a:buNone/>
            </a:pPr>
            <a:r>
              <a:rPr b="1" dirty="0" sz="1800" lang="en-IN"/>
              <a:t>Hardware: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dirty="0" sz="1700" lang="en-IN"/>
              <a:t>Minimum 4GB RAM (8GB recommended)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dirty="0" sz="1700" lang="en-IN"/>
              <a:t>Intel i3/i5 processor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dirty="0" sz="1700" lang="en-IN"/>
              <a:t>Sufficient storage space </a:t>
            </a:r>
          </a:p>
          <a:p>
            <a:pPr indent="0" marL="0">
              <a:lnSpc>
                <a:spcPct val="120000"/>
              </a:lnSpc>
              <a:buNone/>
            </a:pPr>
            <a:r>
              <a:rPr b="1" dirty="0" sz="1800" lang="en-IN"/>
              <a:t>Software &amp; Tools: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dirty="0" sz="1700" lang="en-IN"/>
              <a:t>VS Code, Node.js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dirty="0" sz="1700" lang="en-IN"/>
              <a:t>Chrome/Edge browser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dirty="0" sz="1700" lang="en-IN"/>
              <a:t>JavaScript, React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dirty="0" sz="1700" lang="en-IN"/>
              <a:t>ONNX Runtime, </a:t>
            </a:r>
            <a:r>
              <a:rPr dirty="0" sz="1700" lang="en-IN" err="1"/>
              <a:t>IndexedDB</a:t>
            </a:r>
            <a:r>
              <a:rPr dirty="0" sz="1700" lang="en-IN"/>
              <a:t> </a:t>
            </a:r>
          </a:p>
          <a:p>
            <a:endParaRPr dirty="0"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Results &amp; Conclusion</a:t>
            </a:r>
          </a:p>
        </p:txBody>
      </p:sp>
      <p:sp>
        <p:nvSpPr>
          <p:cNvPr id="1048626" name="Content Placeholder 2"/>
          <p:cNvSpPr>
            <a:spLocks noGrp="1"/>
          </p:cNvSpPr>
          <p:nvPr>
            <p:ph idx="1"/>
          </p:nvPr>
        </p:nvSpPr>
        <p:spPr>
          <a:xfrm>
            <a:off x="1522414" y="1844824"/>
            <a:ext cx="9601200" cy="4479776"/>
          </a:xfrm>
        </p:spPr>
        <p:txBody>
          <a:bodyPr/>
          <a:p>
            <a:pPr algn="just" indent="0" marL="0">
              <a:lnSpc>
                <a:spcPct val="100000"/>
              </a:lnSpc>
              <a:buNone/>
            </a:pPr>
            <a:r>
              <a:rPr dirty="0" sz="1600" lang="en-US"/>
              <a:t>The system successfully performs semantic search without internet dependency. It provides accurate and fast results by understanding the meaning of queries.</a:t>
            </a:r>
          </a:p>
          <a:p>
            <a:pPr algn="just"/>
            <a:r>
              <a:rPr dirty="0" sz="1600" lang="en-US"/>
              <a:t>Fast response time (less than 1 second) </a:t>
            </a:r>
          </a:p>
          <a:p>
            <a:pPr algn="just"/>
            <a:r>
              <a:rPr dirty="0" sz="1600" lang="en-US"/>
              <a:t>Works completely offline </a:t>
            </a:r>
          </a:p>
          <a:p>
            <a:pPr algn="just"/>
            <a:r>
              <a:rPr dirty="0" sz="1600" lang="en-US"/>
              <a:t>Accurate and relevant results </a:t>
            </a:r>
          </a:p>
          <a:p>
            <a:pPr algn="just"/>
            <a:r>
              <a:rPr dirty="0" sz="1600" lang="en-US"/>
              <a:t>Ensures user data privacy </a:t>
            </a:r>
          </a:p>
          <a:p>
            <a:pPr algn="just" indent="0" marL="0">
              <a:buNone/>
            </a:pPr>
            <a:r>
              <a:rPr dirty="0" sz="1600" lang="en-US"/>
              <a:t>Overall, the project demonstrates an efficient and practical solution for modern search needs.</a:t>
            </a:r>
          </a:p>
          <a:p>
            <a:endParaRPr dirty="0"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References</a:t>
            </a:r>
          </a:p>
        </p:txBody>
      </p:sp>
      <p:sp>
        <p:nvSpPr>
          <p:cNvPr id="104862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indent="0" marL="0">
              <a:buNone/>
            </a:pPr>
            <a:r>
              <a:rPr dirty="0" sz="1200" lang="en-IN"/>
              <a:t>[1] T. Reimers, I. </a:t>
            </a:r>
            <a:r>
              <a:rPr dirty="0" sz="1200" lang="en-IN" err="1"/>
              <a:t>Gurevych</a:t>
            </a:r>
            <a:r>
              <a:rPr dirty="0" sz="1200" lang="en-IN"/>
              <a:t>, "Sentence-BERT: Sentence Embeddings using Siamese BERT-Networks", Proceedings of the 2019 Conference on Empirical Methods in Natural Language Processing, 2019.</a:t>
            </a:r>
          </a:p>
          <a:p>
            <a:pPr indent="0" marL="0">
              <a:buNone/>
            </a:pPr>
            <a:r>
              <a:rPr dirty="0" sz="1200" lang="en-IN"/>
              <a:t>[2] J. Devlin, M. Chang, K. Lee, K. Toutanova, "BERT: Pre-training of Deep Bidirectional Transformers for Language Understanding", NAACL-HLT, 2019.</a:t>
            </a:r>
          </a:p>
          <a:p>
            <a:pPr indent="0" marL="0">
              <a:buNone/>
            </a:pPr>
            <a:r>
              <a:rPr dirty="0" sz="1200" lang="en-IN"/>
              <a:t>[3] OpenAI, "Embedding Models for Semantic Search", OpenAI Documentation, 2023.</a:t>
            </a:r>
          </a:p>
          <a:p>
            <a:pPr indent="0" marL="0">
              <a:buNone/>
            </a:pPr>
            <a:r>
              <a:rPr dirty="0" sz="1200" lang="en-IN"/>
              <a:t>[4] Microsoft, "ONNX Runtime: Cross-platform, High Performance ML Inference and Training Accelerator", Microsoft Documentation, 2022.</a:t>
            </a:r>
          </a:p>
          <a:p>
            <a:pPr indent="0" marL="0">
              <a:buNone/>
            </a:pPr>
            <a:r>
              <a:rPr dirty="0" sz="1200" lang="en-IN"/>
              <a:t>[5] Mozilla, "</a:t>
            </a:r>
            <a:r>
              <a:rPr dirty="0" sz="1200" lang="en-IN" err="1"/>
              <a:t>IndexedDB</a:t>
            </a:r>
            <a:r>
              <a:rPr dirty="0" sz="1200" lang="en-IN"/>
              <a:t> API", MDN Web Docs, 2023.</a:t>
            </a:r>
          </a:p>
          <a:p>
            <a:pPr indent="0" marL="0">
              <a:buNone/>
            </a:pPr>
            <a:r>
              <a:rPr dirty="0" sz="1200" lang="en-IN"/>
              <a:t>[6] Mozilla, "Browser Extensions (</a:t>
            </a:r>
            <a:r>
              <a:rPr dirty="0" sz="1200" lang="en-IN" err="1"/>
              <a:t>WebExtensions</a:t>
            </a:r>
            <a:r>
              <a:rPr dirty="0" sz="1200" lang="en-IN"/>
              <a:t> API)", MDN Web Docs, 2023.</a:t>
            </a:r>
          </a:p>
          <a:p>
            <a:endParaRPr dirty="0"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/>
          </a:p>
        </p:txBody>
      </p:sp>
      <p:sp>
        <p:nvSpPr>
          <p:cNvPr id="1048630" name="Content Placeholder 2"/>
          <p:cNvSpPr>
            <a:spLocks noGrp="1"/>
          </p:cNvSpPr>
          <p:nvPr>
            <p:ph idx="1"/>
          </p:nvPr>
        </p:nvSpPr>
        <p:spPr>
          <a:xfrm>
            <a:off x="1379504" y="2667000"/>
            <a:ext cx="9601200" cy="4191000"/>
          </a:xfrm>
        </p:spPr>
        <p:txBody>
          <a:bodyPr>
            <a:normAutofit/>
          </a:bodyPr>
          <a:p>
            <a:pPr algn="ctr">
              <a:buNone/>
            </a:pPr>
            <a:r>
              <a:rPr dirty="0" sz="8800" lang="en-GB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>
                <a:latin typeface="Arial" pitchFamily="34" charset="0"/>
                <a:cs typeface="Arial" pitchFamily="34" charset="0"/>
              </a:rPr>
              <a:t>Feedback from the Panel</a:t>
            </a:r>
          </a:p>
        </p:txBody>
      </p:sp>
      <p:sp>
        <p:nvSpPr>
          <p:cNvPr id="104863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dirty="0" lang="en-US">
              <a:latin typeface="Arial" pitchFamily="34" charset="0"/>
              <a:cs typeface="Arial" pitchFamily="34" charset="0"/>
            </a:endParaRPr>
          </a:p>
          <a:p>
            <a:r>
              <a:rPr dirty="0" lang="en-US">
                <a:latin typeface="Arial" pitchFamily="34" charset="0"/>
                <a:cs typeface="Arial" pitchFamily="34" charset="0"/>
              </a:rPr>
              <a:t>The panel wants the team to :</a:t>
            </a:r>
          </a:p>
          <a:p>
            <a:endParaRPr dirty="0"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lastClr="000000" val="windowText"/>
      </a:dk1>
      <a:lt1>
        <a:sysClr lastClr="FFFFFF" val="window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anchor="ctr" rtlCol="0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anchor="ctr" anchorCtr="1" rtlCol="0" wrap="square">
        <a:spAutoFit/>
      </a:bodyPr>
      <a:lstStyle>
        <a:defPPr>
          <a:defRPr dirty="0" smtClean="0"/>
        </a:defPPr>
      </a:lstStyle>
    </a:txDef>
  </a:objectDefaults>
</a:theme>
</file>

<file path=ppt/theme/theme2.xml><?xml version="1.0" encoding="utf-8"?>
<a:theme xmlns:a="http://schemas.openxmlformats.org/drawingml/2006/main" name="Office Theme">
  <a:themeElements>
    <a:clrScheme name="Violet II">
      <a:dk1>
        <a:sysClr lastClr="000000" val="windowText"/>
      </a:dk1>
      <a:lt1>
        <a:sysClr lastClr="FFFFFF" val="window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Violet II">
      <a:dk1>
        <a:sysClr lastClr="000000" val="windowText"/>
      </a:dk1>
      <a:lt1>
        <a:sysClr lastClr="FFFFFF" val="window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Automated Exam Duty Allocation</dc:title>
  <dc:creator>Sudhanshu</dc:creator>
  <cp:lastModifiedBy>varun attri</cp:lastModifiedBy>
  <dcterms:created xsi:type="dcterms:W3CDTF">2017-11-16T06:39:44Z</dcterms:created>
  <dcterms:modified xsi:type="dcterms:W3CDTF">2026-04-23T01:02:19Z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ICV">
    <vt:lpwstr>de3982a0b101461b918cf50441e235b7</vt:lpwstr>
  </property>
</Properties>
</file>